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70" r:id="rId9"/>
    <p:sldId id="271" r:id="rId10"/>
    <p:sldId id="264" r:id="rId11"/>
    <p:sldId id="272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2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Plain DDIM</c:v>
                </c:pt>
              </c:strCache>
            </c:strRef>
          </c:tx>
          <c:spPr>
            <a:solidFill>
              <a:srgbClr val="9CC3C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 = 8</c:v>
                </c:pt>
                <c:pt idx="1">
                  <c:v>K = 4</c:v>
                </c:pt>
                <c:pt idx="2">
                  <c:v>K = 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47.12</c:v>
                </c:pt>
                <c:pt idx="1">
                  <c:v>103.28</c:v>
                </c:pt>
                <c:pt idx="2">
                  <c:v>188.84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8E-4554-BE06-BDC3FDE69B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Distilled LoRA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 = 8</c:v>
                </c:pt>
                <c:pt idx="1">
                  <c:v>K = 4</c:v>
                </c:pt>
                <c:pt idx="2">
                  <c:v>K = 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38.24</c:v>
                </c:pt>
                <c:pt idx="1">
                  <c:v>68.34</c:v>
                </c:pt>
                <c:pt idx="2">
                  <c:v>159.12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8E-4554-BE06-BDC3FDE69B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3"/>
                    </a:solidFill>
                    <a:latin typeface="Arial"/>
                  </a:defRPr>
                </a:pPr>
                <a:r>
                  <a:rPr lang="en-GB" sz="1100" b="0" i="0" u="none" strike="noStrike">
                    <a:solidFill>
                      <a:srgbClr val="5C6B73"/>
                    </a:solidFill>
                    <a:latin typeface="Arial"/>
                  </a:rPr>
                  <a:t>FID ↓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7252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329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80C89-BF55-AC93-3853-0D7E0E47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BF310-B18F-5A17-EB3B-F6BE2192C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798495-7795-C46A-9C7B-1638C1DB7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D24AE-28A2-55E3-5C4B-372B8AE028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84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A7EDC-371B-5F94-EBB1-6183F319D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FED56-A5BC-AE8E-3E99-C70B65EE8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DC907-FD29-078C-F809-661E2B2B8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7F8F8-7351-64E3-D73C-20FB6FAE1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01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4F583-23D2-FE08-E2D9-39CAAD980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8E18F-954D-B2BE-9E7E-BEF70F20C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07277-AEB0-CC1F-7806-577D01D60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D10D8-4BEF-AA87-C9ED-FE1C5A3253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61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2E62C-4155-0A60-01BA-E1FDAC8BE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986544-6FD1-098D-F02C-591D9E047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F1114-5D16-5541-E6CC-3726DB8D0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47394-01E1-C1CE-F113-F2E9A0B4B0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637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1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2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9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l="2912" r="-481" b="2432"/>
          <a:stretch>
            <a:fillRect/>
          </a:stretch>
        </p:blipFill>
        <p:spPr>
          <a:xfrm>
            <a:off x="8366760" y="1572768"/>
            <a:ext cx="3063240" cy="3063240"/>
          </a:xfrm>
          <a:prstGeom prst="ellipse">
            <a:avLst/>
          </a:prstGeom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8275320" y="47091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samples · CIFAR-10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777240"/>
            <a:ext cx="4251960" cy="457200"/>
          </a:xfrm>
          <a:prstGeom prst="roundRect">
            <a:avLst>
              <a:gd name="adj" fmla="val 50000"/>
            </a:avLst>
          </a:prstGeom>
          <a:solidFill>
            <a:srgbClr val="EAF5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685800" y="77724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— Project 5  ·  A.A. 2025/2026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554480"/>
            <a:ext cx="7360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Few-Step Distillation of Diffusion Models via LoRA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13232" y="3611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Diffusion Models for Resource-Constrained Environments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13232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Claudia Giuseppini</a:t>
            </a:r>
            <a:r>
              <a:rPr lang="en-US" sz="14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2069387        </a:t>
            </a:r>
            <a:r>
              <a:rPr lang="en-US" sz="1400" b="1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Benedetta Conti</a:t>
            </a:r>
            <a:r>
              <a:rPr lang="en-US" sz="14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2045621        </a:t>
            </a:r>
            <a:r>
              <a:rPr lang="en-US" sz="1400" b="1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Falconi</a:t>
            </a:r>
            <a:r>
              <a:rPr lang="en-US" sz="14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2048079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5074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 </a:t>
            </a: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Irene Amerini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55321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Dip. di Ingegneria Informatica, Automatica e Gestionale — Sapienza Università di Roma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86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141732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1005840" y="1655064"/>
            <a:ext cx="438912" cy="438912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05840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15453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are slow: ~1000 sequential steps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2496312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1005840" y="2734056"/>
            <a:ext cx="438912" cy="438912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005840" y="2734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600200" y="2624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600200" y="2953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· DDIM · Distillation · LoRA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3575304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1005840" y="3813048"/>
            <a:ext cx="438912" cy="438912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1005840" y="3813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0020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600200" y="40325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few-step distillation with trajectory matching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22960" y="4654296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1005840" y="4892040"/>
            <a:ext cx="438912" cy="438912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1005840" y="4892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600200" y="47823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600200" y="51114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CIFAR-10, 60k images 32×32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309360" y="141732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6492240" y="1655064"/>
            <a:ext cx="438912" cy="438912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6492240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086600" y="15453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08660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U-Net, single-GPU budget, metrics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309360" y="2496312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6492240" y="2734056"/>
            <a:ext cx="438912" cy="438912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6492240" y="2734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086600" y="2624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086600" y="2953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Quality/speed trade-off &amp; ablations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309360" y="3575304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6492240" y="3813048"/>
            <a:ext cx="438912" cy="438912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6492240" y="3813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08660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086600" y="40325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~10–19× faster at matched quality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86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141732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DDPMs generate images by removing noise step by step and they need up to </a:t>
            </a:r>
            <a:r>
              <a:rPr lang="en-US" sz="17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sequential network evaluations</a:t>
            </a:r>
            <a:r>
              <a:rPr lang="en-US" sz="17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image. This is slow and expensive on limited hardware.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 speeds this up by taking fewer, larger jumps but each jump adds </a:t>
            </a:r>
            <a:r>
              <a:rPr lang="en-US" sz="17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discretization error</a:t>
            </a:r>
            <a:r>
              <a:rPr lang="en-US" sz="17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accumulates, so quality collapses at very few steps.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3794760"/>
            <a:ext cx="6583680" cy="2331720"/>
          </a:xfrm>
          <a:prstGeom prst="roundRect">
            <a:avLst>
              <a:gd name="adj" fmla="val 3922"/>
            </a:avLst>
          </a:prstGeom>
          <a:solidFill>
            <a:srgbClr val="EAF5F6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9" name="Text 6"/>
          <p:cNvSpPr/>
          <p:nvPr/>
        </p:nvSpPr>
        <p:spPr>
          <a:xfrm>
            <a:off x="1097280" y="39776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3000" y="443484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sampling time while keeping generation quality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error that hurts few-step DDIM, not the per-step prediction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extra training cheap enough for limited GPU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55280" y="15544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~1000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795528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steps for one DDPM image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3063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325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795528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of plain DDIM at a single step 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45720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7955280" y="5303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weights we will train to fix this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86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13716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097280" y="15544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202996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Diffusion Probabilistic Models — our baseline generator.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97280" y="2743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~1000 sequential steps → very slow sampling.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3716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492240" y="15544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  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492240" y="202996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sampler that skips levels, enabling fewer steps.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92240" y="2743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quality collapses under strong step reduction.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3657600"/>
            <a:ext cx="5074920" cy="1965960"/>
          </a:xfrm>
          <a:prstGeom prst="roundRect">
            <a:avLst>
              <a:gd name="adj" fmla="val 3721"/>
            </a:avLst>
          </a:prstGeom>
          <a:solidFill>
            <a:schemeClr val="accent4">
              <a:lumMod val="20000"/>
              <a:lumOff val="80000"/>
            </a:schemeClr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1097280" y="38404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097280" y="431596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 student to reproduce a teacher in fewer steps.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097280" y="5029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re-trains the whole network at each stage; very costly.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17920" y="3657600"/>
            <a:ext cx="5074920" cy="1965960"/>
          </a:xfrm>
          <a:prstGeom prst="roundRect">
            <a:avLst>
              <a:gd name="adj" fmla="val 3721"/>
            </a:avLst>
          </a:prstGeom>
          <a:solidFill>
            <a:schemeClr val="accent2">
              <a:lumMod val="40000"/>
              <a:lumOff val="60000"/>
            </a:schemeClr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492240" y="38404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r>
              <a:rPr lang="en-US" sz="19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492240" y="431596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adapters for cheap adaptation of a frozen model.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92240" y="5029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distillation with trajectory matching at ~0.1% cost.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can be used in State-of-the-Art in some of the references. </a:t>
            </a:r>
            <a:r>
              <a:rPr lang="en-US" sz="1350" i="1" dirty="0" err="1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r>
              <a:rPr lang="en-US" sz="1350" i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State-of-the-Art for distillation in LLMs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86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 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1417319"/>
            <a:ext cx="4275133" cy="44072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Improvements </a:t>
            </a:r>
            <a:endParaRPr lang="en-US" sz="240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6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>
              <a:lnSpc>
                <a:spcPct val="105000"/>
              </a:lnSpc>
              <a:spcAft>
                <a:spcPts val="1000"/>
              </a:spcAft>
              <a:buSzPct val="100000"/>
            </a:pPr>
            <a:r>
              <a:rPr lang="en-GB" dirty="0"/>
              <a:t>Our first implementation follows the basic DDPM setup. This had difficulties producing clear images with resources we had (Kaggle/</a:t>
            </a:r>
            <a:r>
              <a:rPr lang="en-GB" dirty="0" err="1"/>
              <a:t>Colab</a:t>
            </a:r>
            <a:r>
              <a:rPr lang="en-GB" dirty="0"/>
              <a:t>). </a:t>
            </a:r>
          </a:p>
          <a:p>
            <a:pPr>
              <a:lnSpc>
                <a:spcPct val="105000"/>
              </a:lnSpc>
              <a:spcAft>
                <a:spcPts val="1000"/>
              </a:spcAft>
              <a:buSzPct val="100000"/>
            </a:pPr>
            <a:endParaRPr lang="en-GB" dirty="0"/>
          </a:p>
          <a:p>
            <a:pPr>
              <a:lnSpc>
                <a:spcPct val="105000"/>
              </a:lnSpc>
              <a:spcAft>
                <a:spcPts val="1000"/>
              </a:spcAft>
              <a:buSzPct val="100000"/>
            </a:pPr>
            <a:r>
              <a:rPr lang="en-GB" dirty="0"/>
              <a:t>Therefore, we decided to add some optimization to improve the baseline efficiently. 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269480" y="1572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 ·  frozen DDPM (EMA)</a:t>
            </a:r>
            <a:endParaRPr lang="en-US" sz="130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BE89ECDA-04BF-F1E6-E759-791215BF8162}"/>
              </a:ext>
            </a:extLst>
          </p:cNvPr>
          <p:cNvSpPr/>
          <p:nvPr/>
        </p:nvSpPr>
        <p:spPr>
          <a:xfrm>
            <a:off x="5497975" y="1005840"/>
            <a:ext cx="5672945" cy="1737360"/>
          </a:xfrm>
          <a:prstGeom prst="roundRect">
            <a:avLst>
              <a:gd name="adj" fmla="val 3404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6DE27E75-4A8C-EE73-C3EB-5A674D43C22E}"/>
              </a:ext>
            </a:extLst>
          </p:cNvPr>
          <p:cNvSpPr/>
          <p:nvPr/>
        </p:nvSpPr>
        <p:spPr>
          <a:xfrm>
            <a:off x="5807883" y="1170432"/>
            <a:ext cx="5161869" cy="270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– Exponential Moving Average </a:t>
            </a:r>
            <a:endParaRPr lang="en-US" sz="16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1AC83638-C166-D4C2-6592-70C06CEEFB92}"/>
              </a:ext>
            </a:extLst>
          </p:cNvPr>
          <p:cNvSpPr/>
          <p:nvPr/>
        </p:nvSpPr>
        <p:spPr>
          <a:xfrm>
            <a:off x="5864378" y="1609344"/>
            <a:ext cx="5059654" cy="101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a second averaged copy of the weights 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optimizer makes the weights oscillate around a good configuration this average is more stable 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also produces better images at no extra cost.</a:t>
            </a:r>
            <a:endParaRPr lang="en-US" sz="130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8DC28701-D909-F863-4379-1DE01DE52A8C}"/>
              </a:ext>
            </a:extLst>
          </p:cNvPr>
          <p:cNvSpPr/>
          <p:nvPr/>
        </p:nvSpPr>
        <p:spPr>
          <a:xfrm>
            <a:off x="5484510" y="2927469"/>
            <a:ext cx="5672945" cy="1737360"/>
          </a:xfrm>
          <a:prstGeom prst="roundRect">
            <a:avLst>
              <a:gd name="adj" fmla="val 3404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0B5E5096-7337-DB7A-25C5-327A7BCCBED7}"/>
              </a:ext>
            </a:extLst>
          </p:cNvPr>
          <p:cNvSpPr/>
          <p:nvPr/>
        </p:nvSpPr>
        <p:spPr>
          <a:xfrm>
            <a:off x="5794418" y="3092061"/>
            <a:ext cx="5161869" cy="270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</a:t>
            </a:r>
            <a:endParaRPr lang="en-US" sz="160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3074720E-82B6-9BE6-FCC2-7C8A64432140}"/>
              </a:ext>
            </a:extLst>
          </p:cNvPr>
          <p:cNvSpPr/>
          <p:nvPr/>
        </p:nvSpPr>
        <p:spPr>
          <a:xfrm>
            <a:off x="5850913" y="3530973"/>
            <a:ext cx="5059654" cy="101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GB" sz="1400" dirty="0"/>
              <a:t>Some computations are done in reduced (16-bit) precision which makes training faster and lighter on memory.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visible loss of quality.</a:t>
            </a:r>
            <a:endParaRPr lang="en-US" sz="1300" dirty="0"/>
          </a:p>
        </p:txBody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51CEEFF6-BEA4-405F-37EB-A97EC662CC49}"/>
              </a:ext>
            </a:extLst>
          </p:cNvPr>
          <p:cNvSpPr/>
          <p:nvPr/>
        </p:nvSpPr>
        <p:spPr>
          <a:xfrm>
            <a:off x="5484510" y="4850487"/>
            <a:ext cx="5672945" cy="1737360"/>
          </a:xfrm>
          <a:prstGeom prst="roundRect">
            <a:avLst>
              <a:gd name="adj" fmla="val 3404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3757F434-84D6-3765-1AC0-C97778C377C0}"/>
              </a:ext>
            </a:extLst>
          </p:cNvPr>
          <p:cNvSpPr/>
          <p:nvPr/>
        </p:nvSpPr>
        <p:spPr>
          <a:xfrm>
            <a:off x="5794418" y="5015079"/>
            <a:ext cx="5161869" cy="270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600" dirty="0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D952CFF9-D079-ED8A-A31C-6CA60CC12219}"/>
              </a:ext>
            </a:extLst>
          </p:cNvPr>
          <p:cNvSpPr/>
          <p:nvPr/>
        </p:nvSpPr>
        <p:spPr>
          <a:xfrm>
            <a:off x="5850913" y="5453991"/>
            <a:ext cx="5059654" cy="101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GB" sz="1400" dirty="0"/>
              <a:t>We apply a random horizontal flip to the training images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GB" sz="1400" dirty="0"/>
              <a:t>A mirrored dataset image is still a plausible image, so this enriches the data without distorting its distribution, unlike crops and rotation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E57C2-7750-A704-D9B8-58A67847D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16D76C-CE1B-2148-85D8-34C43F3B0023}"/>
              </a:ext>
            </a:extLst>
          </p:cNvPr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64B7184-0F66-12B0-26FB-525FE560B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8640"/>
            <a:ext cx="274320" cy="2743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134BFFB-AAA7-E02E-C16A-57928A418EC3}"/>
              </a:ext>
            </a:extLst>
          </p:cNvPr>
          <p:cNvSpPr/>
          <p:nvPr/>
        </p:nvSpPr>
        <p:spPr>
          <a:xfrm>
            <a:off x="1325880" y="36576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 2</a:t>
            </a:r>
            <a:endParaRPr lang="en-US" sz="3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F489E7D-064B-5BB8-120F-FB234EE2635C}"/>
              </a:ext>
            </a:extLst>
          </p:cNvPr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E5EB0BD-079E-D397-0819-84D087D9E15F}"/>
              </a:ext>
            </a:extLst>
          </p:cNvPr>
          <p:cNvSpPr/>
          <p:nvPr/>
        </p:nvSpPr>
        <p:spPr>
          <a:xfrm>
            <a:off x="822960" y="141732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few-step distillation via LoRA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6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trained DDPM (EMA weights) as the teacher, add small low-rank adapters into the attention layers as the student.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refines a state with m small DDIM sub-steps, the student must reach the same point in a single step.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teaches the student to compensate the error of large jumps: the student achieves few steps without the DDIM drop.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and B (adapters) are trained (start B = 0 ⇒ student = teacher); at inference they merge back: W′ = W + BA, no overhead.</a:t>
            </a:r>
            <a:endParaRPr lang="en-US" sz="14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F15ED50-3296-6737-F3A1-5C81A73D70B1}"/>
              </a:ext>
            </a:extLst>
          </p:cNvPr>
          <p:cNvSpPr/>
          <p:nvPr/>
        </p:nvSpPr>
        <p:spPr>
          <a:xfrm>
            <a:off x="822960" y="4800600"/>
            <a:ext cx="5852160" cy="1371600"/>
          </a:xfrm>
          <a:prstGeom prst="roundRect">
            <a:avLst>
              <a:gd name="adj" fmla="val 6667"/>
            </a:avLst>
          </a:prstGeom>
          <a:solidFill>
            <a:srgbClr val="EAF5F6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F1D32D2-46C0-4125-8244-E967CF3690E9}"/>
              </a:ext>
            </a:extLst>
          </p:cNvPr>
          <p:cNvSpPr/>
          <p:nvPr/>
        </p:nvSpPr>
        <p:spPr>
          <a:xfrm>
            <a:off x="1051560" y="4937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objective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B0BFEE9-EEB7-A8A7-B4D9-96676BE678DC}"/>
              </a:ext>
            </a:extLst>
          </p:cNvPr>
          <p:cNvSpPr/>
          <p:nvPr/>
        </p:nvSpPr>
        <p:spPr>
          <a:xfrm>
            <a:off x="1051560" y="52852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r>
              <a:rPr lang="en-US" sz="1700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‖ x</a:t>
            </a:r>
            <a:r>
              <a:rPr lang="en-US" sz="900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r>
              <a:rPr lang="en-US" sz="1700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x</a:t>
            </a:r>
            <a:r>
              <a:rPr lang="en-US" sz="900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</a:t>
            </a:r>
            <a:r>
              <a:rPr lang="en-US" sz="1700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‖²  +  λ ‖ ε</a:t>
            </a:r>
            <a:r>
              <a:rPr lang="en-US" sz="900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r>
              <a:rPr lang="en-US" sz="1700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ε</a:t>
            </a:r>
            <a:r>
              <a:rPr lang="en-US" sz="900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en-US" sz="1700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‖²</a:t>
            </a:r>
            <a:endParaRPr lang="en-US" sz="17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D57D182-865F-A0CA-06AA-8BCD4D424104}"/>
              </a:ext>
            </a:extLst>
          </p:cNvPr>
          <p:cNvSpPr/>
          <p:nvPr/>
        </p:nvSpPr>
        <p:spPr>
          <a:xfrm>
            <a:off x="1051560" y="5760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matching  +  noise-consistency (stabiliser)</a:t>
            </a:r>
            <a:endParaRPr lang="en-US" sz="11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B255513-88BD-426A-192B-1C28E26D46F6}"/>
              </a:ext>
            </a:extLst>
          </p:cNvPr>
          <p:cNvSpPr/>
          <p:nvPr/>
        </p:nvSpPr>
        <p:spPr>
          <a:xfrm>
            <a:off x="7040880" y="1417320"/>
            <a:ext cx="4572000" cy="1417320"/>
          </a:xfrm>
          <a:prstGeom prst="roundRect">
            <a:avLst>
              <a:gd name="adj" fmla="val 6452"/>
            </a:avLst>
          </a:prstGeom>
          <a:solidFill>
            <a:srgbClr val="0B7C8A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A6B34D4-6CF5-9B53-0799-238FC3BB4267}"/>
              </a:ext>
            </a:extLst>
          </p:cNvPr>
          <p:cNvSpPr/>
          <p:nvPr/>
        </p:nvSpPr>
        <p:spPr>
          <a:xfrm>
            <a:off x="7269480" y="1572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 ·  frozen DDPM (EMA)</a:t>
            </a:r>
            <a:endParaRPr lang="en-US" sz="13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212BADC-436A-DDB4-0ED4-516D9D77CE94}"/>
              </a:ext>
            </a:extLst>
          </p:cNvPr>
          <p:cNvSpPr/>
          <p:nvPr/>
        </p:nvSpPr>
        <p:spPr>
          <a:xfrm>
            <a:off x="7269480" y="19385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  →  m small DDIM sub-steps  →  xₜ′ (target)</a:t>
            </a:r>
            <a:endParaRPr lang="en-US" sz="13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101ED66-EC9A-1171-5BBD-F97E2F98D1B4}"/>
              </a:ext>
            </a:extLst>
          </p:cNvPr>
          <p:cNvSpPr/>
          <p:nvPr/>
        </p:nvSpPr>
        <p:spPr>
          <a:xfrm>
            <a:off x="7269480" y="23591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D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multi-step path</a:t>
            </a:r>
            <a:endParaRPr lang="en-US" sz="11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DE379E3-55C2-E2B5-DEF5-04486D55B6DE}"/>
              </a:ext>
            </a:extLst>
          </p:cNvPr>
          <p:cNvSpPr/>
          <p:nvPr/>
        </p:nvSpPr>
        <p:spPr>
          <a:xfrm>
            <a:off x="9326880" y="2880360"/>
            <a:ext cx="0" cy="548640"/>
          </a:xfrm>
          <a:prstGeom prst="line">
            <a:avLst/>
          </a:prstGeom>
          <a:noFill/>
          <a:ln w="38100">
            <a:solidFill>
              <a:srgbClr val="E8590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8402C82-986E-7E21-146E-C65FB7DC5A05}"/>
              </a:ext>
            </a:extLst>
          </p:cNvPr>
          <p:cNvSpPr/>
          <p:nvPr/>
        </p:nvSpPr>
        <p:spPr>
          <a:xfrm>
            <a:off x="9464040" y="2971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match</a:t>
            </a:r>
            <a:endParaRPr lang="en-US" sz="11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BE77316-5759-1406-E6AC-EE2ABB42872F}"/>
              </a:ext>
            </a:extLst>
          </p:cNvPr>
          <p:cNvSpPr/>
          <p:nvPr/>
        </p:nvSpPr>
        <p:spPr>
          <a:xfrm>
            <a:off x="7040880" y="3520440"/>
            <a:ext cx="4572000" cy="1417320"/>
          </a:xfrm>
          <a:prstGeom prst="roundRect">
            <a:avLst>
              <a:gd name="adj" fmla="val 6452"/>
            </a:avLst>
          </a:prstGeom>
          <a:solidFill>
            <a:srgbClr val="0B4F6C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A57388F-8DC6-0B30-1C82-C88D9919D586}"/>
              </a:ext>
            </a:extLst>
          </p:cNvPr>
          <p:cNvSpPr/>
          <p:nvPr/>
        </p:nvSpPr>
        <p:spPr>
          <a:xfrm>
            <a:off x="7269480" y="36758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·  DDPM + LoRA adapter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D74A78C-2C15-ACB2-7A97-A018AC907F11}"/>
              </a:ext>
            </a:extLst>
          </p:cNvPr>
          <p:cNvSpPr/>
          <p:nvPr/>
        </p:nvSpPr>
        <p:spPr>
          <a:xfrm>
            <a:off x="7269480" y="40416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  →  ONE DDIM step  →  xₜ′ (student)</a:t>
            </a:r>
            <a:endParaRPr lang="en-US" sz="13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77B2EFB-7227-170B-A005-B395B973A119}"/>
              </a:ext>
            </a:extLst>
          </p:cNvPr>
          <p:cNvSpPr/>
          <p:nvPr/>
        </p:nvSpPr>
        <p:spPr>
          <a:xfrm>
            <a:off x="7269480" y="44622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large jump, error compensated</a:t>
            </a:r>
            <a:endParaRPr lang="en-US" sz="11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8B3EA145-827D-BCEA-9807-0F328E0DDFA8}"/>
              </a:ext>
            </a:extLst>
          </p:cNvPr>
          <p:cNvSpPr/>
          <p:nvPr/>
        </p:nvSpPr>
        <p:spPr>
          <a:xfrm>
            <a:off x="7040880" y="521208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F0A95EF-ADB6-432D-0ACE-552F2541264E}"/>
              </a:ext>
            </a:extLst>
          </p:cNvPr>
          <p:cNvSpPr/>
          <p:nvPr/>
        </p:nvSpPr>
        <p:spPr>
          <a:xfrm>
            <a:off x="7269480" y="53218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16,384</a:t>
            </a:r>
            <a:r>
              <a:rPr lang="en-US" sz="14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trainable params  ·  </a:t>
            </a: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0.107%</a:t>
            </a:r>
            <a:r>
              <a:rPr lang="en-US" sz="14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15.3M</a:t>
            </a:r>
            <a:endParaRPr lang="en-US" sz="14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408B0BB-A90B-FDD6-54DB-D163520B300D}"/>
              </a:ext>
            </a:extLst>
          </p:cNvPr>
          <p:cNvSpPr/>
          <p:nvPr/>
        </p:nvSpPr>
        <p:spPr>
          <a:xfrm>
            <a:off x="7269480" y="5742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merge into the weights 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89460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86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141732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078992" y="158191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24712" y="2020824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U-Net, base_channels = 64, time_dim = 256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15.3M parameters; T = 1000 diffusion steps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noise schedule; ε-prediction objective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+ </a:t>
            </a:r>
            <a:r>
              <a:rPr lang="en-US" sz="1300" dirty="0" err="1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473952" y="158191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19672" y="2020824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batch size 128, 80 epochs (baseline)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teacher, AMP mixed precision, grad clipping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Distillation: one student per K ∈ {8,4,2,1}, 10 epochs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LoRA adapters trained (16,384 params)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379476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078992" y="39593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– CIFAR 10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24712" y="4398264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</a:t>
            </a:r>
            <a:r>
              <a:rPr lang="en-US" sz="1400" dirty="0" err="1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</a:t>
            </a:r>
            <a:r>
              <a:rPr lang="en-US" sz="14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images, 32×32, 3 channels (RGB), across 10 classes. </a:t>
            </a:r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: </a:t>
            </a:r>
            <a:r>
              <a:rPr lang="en-US" sz="14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train / 10,000 test </a:t>
            </a:r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Pre-processing: </a:t>
            </a:r>
            <a:r>
              <a:rPr lang="en-US" sz="14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rescaled, so the data is zero-centered to match the zero-centered Gaussian noise of the diffusion process.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379476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6" name="Text 13"/>
          <p:cNvSpPr/>
          <p:nvPr/>
        </p:nvSpPr>
        <p:spPr>
          <a:xfrm>
            <a:off x="6473952" y="39593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reproducibility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19672" y="4398264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GPU — NVIDIA T4 (Kaggle)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on 10,000 generated images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 = 42, deterministic algorithms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seeded noise bank → fair comparisons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4B281-EA87-49B8-BC4B-22E9B5231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2D7814-427A-E9B9-EA6B-C07BF664A8D0}"/>
              </a:ext>
            </a:extLst>
          </p:cNvPr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9B01965-3927-5CA8-AA78-56CC2DBA2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8640"/>
            <a:ext cx="274320" cy="2743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A718966-2317-7EDA-203F-A6DF94319A3B}"/>
              </a:ext>
            </a:extLst>
          </p:cNvPr>
          <p:cNvSpPr/>
          <p:nvPr/>
        </p:nvSpPr>
        <p:spPr>
          <a:xfrm>
            <a:off x="1325880" y="36576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– Baseline</a:t>
            </a:r>
            <a:endParaRPr lang="en-US" sz="3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1E6E0DA-EB90-6FF4-0DCC-C953A89BB1A6}"/>
              </a:ext>
            </a:extLst>
          </p:cNvPr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65EF5A1-830F-82E6-EA7C-12F4F34DA5DF}"/>
              </a:ext>
            </a:extLst>
          </p:cNvPr>
          <p:cNvSpPr/>
          <p:nvPr/>
        </p:nvSpPr>
        <p:spPr>
          <a:xfrm>
            <a:off x="1379618" y="5304975"/>
            <a:ext cx="3217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loss stabilizes after 40 epochs </a:t>
            </a:r>
            <a:endParaRPr lang="en-US" sz="15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51C5908-079D-6C81-5D3D-7922C1F9C258}"/>
              </a:ext>
            </a:extLst>
          </p:cNvPr>
          <p:cNvSpPr/>
          <p:nvPr/>
        </p:nvSpPr>
        <p:spPr>
          <a:xfrm>
            <a:off x="8619403" y="5144955"/>
            <a:ext cx="20427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of DDIM - 100 steps.</a:t>
            </a:r>
            <a:endParaRPr lang="en-US" sz="115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E29CF55-B6A1-AA92-8707-FFD6152AA8BE}"/>
              </a:ext>
            </a:extLst>
          </p:cNvPr>
          <p:cNvSpPr/>
          <p:nvPr/>
        </p:nvSpPr>
        <p:spPr>
          <a:xfrm>
            <a:off x="9373642" y="300297"/>
            <a:ext cx="2449550" cy="1060704"/>
          </a:xfrm>
          <a:prstGeom prst="roundRect">
            <a:avLst>
              <a:gd name="adj" fmla="val 3404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851B5EF-04BC-C5E7-A70B-434ADE185C9D}"/>
              </a:ext>
            </a:extLst>
          </p:cNvPr>
          <p:cNvSpPr/>
          <p:nvPr/>
        </p:nvSpPr>
        <p:spPr>
          <a:xfrm>
            <a:off x="9766391" y="328362"/>
            <a:ext cx="768513" cy="214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4C4A0620-208A-AEB9-49F2-B58D4DB3671A}"/>
              </a:ext>
            </a:extLst>
          </p:cNvPr>
          <p:cNvSpPr/>
          <p:nvPr/>
        </p:nvSpPr>
        <p:spPr>
          <a:xfrm>
            <a:off x="9470554" y="535059"/>
            <a:ext cx="2439852" cy="8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 — image fidelity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Score — sharpness 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 — fidelity vs diversity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DD609D3-37A0-974D-43A1-DCE9B0EA3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59727"/>
            <a:ext cx="4549959" cy="30269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967D3F5-273C-5CEB-D6B5-66E58B4F8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693" y="4284704"/>
            <a:ext cx="2003966" cy="200396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5D89045-245C-1322-BF8E-8F0BCEE020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756" y="1530300"/>
            <a:ext cx="4943475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88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B77AB-E6DD-5053-0A9C-31A13B377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92BB71-04D5-094C-851A-DDC1ED11BFE8}"/>
              </a:ext>
            </a:extLst>
          </p:cNvPr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A3D5567-8A2A-6D45-1222-76892AF45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8640"/>
            <a:ext cx="274320" cy="2743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EA3DD20-602A-B8F2-B85C-6742C9D75891}"/>
              </a:ext>
            </a:extLst>
          </p:cNvPr>
          <p:cNvSpPr/>
          <p:nvPr/>
        </p:nvSpPr>
        <p:spPr>
          <a:xfrm>
            <a:off x="1325880" y="36576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– Speed vs Quality</a:t>
            </a:r>
            <a:endParaRPr lang="en-US" sz="3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A4D1806-0B9D-45D6-4CEC-40753718FC90}"/>
              </a:ext>
            </a:extLst>
          </p:cNvPr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6A5C413-2BFE-B1D0-C488-66E4293B94F7}"/>
              </a:ext>
            </a:extLst>
          </p:cNvPr>
          <p:cNvSpPr/>
          <p:nvPr/>
        </p:nvSpPr>
        <p:spPr>
          <a:xfrm>
            <a:off x="6781176" y="4432312"/>
            <a:ext cx="3703320" cy="1501140"/>
          </a:xfrm>
          <a:prstGeom prst="roundRect">
            <a:avLst>
              <a:gd name="adj" fmla="val 3846"/>
            </a:avLst>
          </a:prstGeom>
          <a:solidFill>
            <a:srgbClr val="EAF5F6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EDF2FC0-7ED7-3F0A-9687-CA2C5C88CCDC}"/>
              </a:ext>
            </a:extLst>
          </p:cNvPr>
          <p:cNvSpPr/>
          <p:nvPr/>
        </p:nvSpPr>
        <p:spPr>
          <a:xfrm>
            <a:off x="7009776" y="451419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casualty is diversity</a:t>
            </a:r>
            <a:endParaRPr lang="en-US" sz="15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83E5CAD-9A6A-615E-375B-53A879D4547D}"/>
              </a:ext>
            </a:extLst>
          </p:cNvPr>
          <p:cNvSpPr/>
          <p:nvPr/>
        </p:nvSpPr>
        <p:spPr>
          <a:xfrm>
            <a:off x="7009776" y="4516131"/>
            <a:ext cx="3291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steps drop 100 → 8, precision even </a:t>
            </a: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(0.75 → 0.90)</a:t>
            </a: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single images stay realistic.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recall </a:t>
            </a: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(0.33 → 0.10 → 0)</a:t>
            </a: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model covers less and less of the data and produces less variety.</a:t>
            </a:r>
            <a:endParaRPr lang="en-US" sz="13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BB234F9-5ECA-99DB-430C-7DFF02B6353A}"/>
              </a:ext>
            </a:extLst>
          </p:cNvPr>
          <p:cNvSpPr/>
          <p:nvPr/>
        </p:nvSpPr>
        <p:spPr>
          <a:xfrm>
            <a:off x="822960" y="6126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mixes quality and variety; Precision/Recall separate them.</a:t>
            </a:r>
            <a:endParaRPr lang="en-US" sz="11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E4FB23-B699-B663-8305-D08989614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80" y="3213929"/>
            <a:ext cx="5153445" cy="29125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58D5AE8-AB24-DE33-66AB-D30335F8E2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176" y="1087718"/>
            <a:ext cx="5045687" cy="2912551"/>
          </a:xfrm>
          <a:prstGeom prst="rect">
            <a:avLst/>
          </a:prstGeom>
        </p:spPr>
      </p:pic>
      <p:sp>
        <p:nvSpPr>
          <p:cNvPr id="36" name="Text 10">
            <a:extLst>
              <a:ext uri="{FF2B5EF4-FFF2-40B4-BE49-F238E27FC236}">
                <a16:creationId xmlns:a16="http://schemas.microsoft.com/office/drawing/2014/main" id="{3A512CE2-71DB-B355-861B-A8383F89E505}"/>
              </a:ext>
            </a:extLst>
          </p:cNvPr>
          <p:cNvSpPr/>
          <p:nvPr/>
        </p:nvSpPr>
        <p:spPr>
          <a:xfrm>
            <a:off x="6781176" y="4033277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i="1" dirty="0">
              <a:solidFill>
                <a:srgbClr val="5C6B7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405A29F2-0CC6-C989-A422-74E6506EB34F}"/>
              </a:ext>
            </a:extLst>
          </p:cNvPr>
          <p:cNvSpPr/>
          <p:nvPr/>
        </p:nvSpPr>
        <p:spPr>
          <a:xfrm>
            <a:off x="1467496" y="1285966"/>
            <a:ext cx="3703320" cy="1501140"/>
          </a:xfrm>
          <a:prstGeom prst="roundRect">
            <a:avLst>
              <a:gd name="adj" fmla="val 3846"/>
            </a:avLst>
          </a:prstGeom>
          <a:solidFill>
            <a:srgbClr val="EAF5F6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9A4A5AF9-7EC8-B492-B0E2-5F0656922A57}"/>
              </a:ext>
            </a:extLst>
          </p:cNvPr>
          <p:cNvSpPr/>
          <p:nvPr/>
        </p:nvSpPr>
        <p:spPr>
          <a:xfrm>
            <a:off x="1696096" y="136784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steps degradation</a:t>
            </a:r>
            <a:endParaRPr lang="en-US" sz="15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EAD7141E-8603-F1C5-1D08-F348CE28A8A9}"/>
              </a:ext>
            </a:extLst>
          </p:cNvPr>
          <p:cNvSpPr/>
          <p:nvPr/>
        </p:nvSpPr>
        <p:spPr>
          <a:xfrm>
            <a:off x="1696096" y="1369785"/>
            <a:ext cx="3291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GB" sz="1300" dirty="0"/>
              <a:t>DDIM degrades sharply below</a:t>
            </a:r>
          </a:p>
          <a:p>
            <a:pPr>
              <a:lnSpc>
                <a:spcPct val="110000"/>
              </a:lnSpc>
            </a:pPr>
            <a:r>
              <a:rPr lang="en-GB" sz="1300" dirty="0"/>
              <a:t>10 steps; the distilled </a:t>
            </a:r>
            <a:r>
              <a:rPr lang="en-GB" sz="1300" dirty="0" err="1"/>
              <a:t>LoRA</a:t>
            </a:r>
            <a:r>
              <a:rPr lang="en-GB" sz="1300" dirty="0"/>
              <a:t> students sit below the DDIM curve at the same step</a:t>
            </a:r>
          </a:p>
          <a:p>
            <a:pPr>
              <a:lnSpc>
                <a:spcPct val="110000"/>
              </a:lnSpc>
            </a:pPr>
            <a:r>
              <a:rPr lang="en-GB" sz="1300" dirty="0"/>
              <a:t>count.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7497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86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— LoRA vs. DDIM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073886844"/>
              </p:ext>
            </p:extLst>
          </p:nvPr>
        </p:nvGraphicFramePr>
        <p:xfrm>
          <a:off x="640080" y="1463040"/>
          <a:ext cx="54559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33400" y="40690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steps, same noise, same weights — only the LoRA adapter differs.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40080" y="4617720"/>
            <a:ext cx="6035040" cy="1600200"/>
          </a:xfrm>
          <a:prstGeom prst="roundRect">
            <a:avLst>
              <a:gd name="adj" fmla="val 10526"/>
            </a:avLst>
          </a:prstGeom>
          <a:solidFill>
            <a:srgbClr val="EAF5F6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8"/>
          <p:cNvSpPr/>
          <p:nvPr/>
        </p:nvSpPr>
        <p:spPr>
          <a:xfrm>
            <a:off x="9372600" y="4114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7040880" y="4617720"/>
            <a:ext cx="4572000" cy="1600200"/>
          </a:xfrm>
          <a:prstGeom prst="roundRect">
            <a:avLst>
              <a:gd name="adj" fmla="val 5714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0"/>
          <p:cNvSpPr/>
          <p:nvPr/>
        </p:nvSpPr>
        <p:spPr>
          <a:xfrm>
            <a:off x="7269480" y="4754880"/>
            <a:ext cx="4160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distilled K=8 model is </a:t>
            </a: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10.6×</a:t>
            </a:r>
            <a:r>
              <a:rPr lang="en-US" sz="13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faster than DDIM-100, and K=4 is </a:t>
            </a: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18.9×</a:t>
            </a:r>
            <a:r>
              <a:rPr lang="en-US" sz="13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faster but at a fraction of DDIM's quality loss and with no inference overhead.</a:t>
            </a:r>
            <a:endParaRPr lang="en-US" sz="13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10992E-D2AF-5240-3320-58C3C98A55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37" y="4836795"/>
            <a:ext cx="5495925" cy="11620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CD0481A-D602-4C8B-F8C7-D1FB0C6A0B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123" y="1103043"/>
            <a:ext cx="5497069" cy="2804827"/>
          </a:xfrm>
          <a:prstGeom prst="rect">
            <a:avLst/>
          </a:prstGeom>
        </p:spPr>
      </p:pic>
      <p:sp>
        <p:nvSpPr>
          <p:cNvPr id="22" name="Text 3">
            <a:extLst>
              <a:ext uri="{FF2B5EF4-FFF2-40B4-BE49-F238E27FC236}">
                <a16:creationId xmlns:a16="http://schemas.microsoft.com/office/drawing/2014/main" id="{AF78C6C7-1CC9-017F-57B5-78E2DD016073}"/>
              </a:ext>
            </a:extLst>
          </p:cNvPr>
          <p:cNvSpPr/>
          <p:nvPr/>
        </p:nvSpPr>
        <p:spPr>
          <a:xfrm>
            <a:off x="7577328" y="4023360"/>
            <a:ext cx="3852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 err="1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obtains at most the same execution time as DDIM at matched steps but with higher quality.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FCAE9-FE74-720C-EA2C-4F8DEBB95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D0B56C-2F3F-4B4B-5455-AE0CD8F65171}"/>
              </a:ext>
            </a:extLst>
          </p:cNvPr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BB2D772-A430-A1AA-2031-FA983564C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8640"/>
            <a:ext cx="274320" cy="2743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A4263D6-DA1C-C42D-C5F4-4971ABF72972}"/>
              </a:ext>
            </a:extLst>
          </p:cNvPr>
          <p:cNvSpPr/>
          <p:nvPr/>
        </p:nvSpPr>
        <p:spPr>
          <a:xfrm>
            <a:off x="1325880" y="36576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— </a:t>
            </a:r>
            <a:r>
              <a:rPr lang="en-US" sz="3000" b="1" dirty="0" err="1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r>
              <a:rPr lang="en-US" sz="3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DDIM (matched steps)</a:t>
            </a:r>
            <a:endParaRPr lang="en-US" sz="3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B31523E-0ED1-E04C-6647-22D48BECEBA9}"/>
              </a:ext>
            </a:extLst>
          </p:cNvPr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9B7141E-50CD-7E04-2552-9C3242B522B2}"/>
              </a:ext>
            </a:extLst>
          </p:cNvPr>
          <p:cNvSpPr/>
          <p:nvPr/>
        </p:nvSpPr>
        <p:spPr>
          <a:xfrm>
            <a:off x="1017434" y="1177149"/>
            <a:ext cx="2105628" cy="239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/>
              <a:t>DDIM-8</a:t>
            </a: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734AA89-AFA6-E02A-9C1C-7DC75F2C6F1A}"/>
              </a:ext>
            </a:extLst>
          </p:cNvPr>
          <p:cNvSpPr/>
          <p:nvPr/>
        </p:nvSpPr>
        <p:spPr>
          <a:xfrm>
            <a:off x="9372600" y="4114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968AF0-9748-137A-BD05-C394CC3E8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" y="1461477"/>
            <a:ext cx="1955080" cy="19550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3140D3-C8D0-D424-AC4E-9FD5F8D017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" y="3781101"/>
            <a:ext cx="1955080" cy="1955080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85A3682D-673E-E906-CE3C-895551C8550A}"/>
              </a:ext>
            </a:extLst>
          </p:cNvPr>
          <p:cNvSpPr/>
          <p:nvPr/>
        </p:nvSpPr>
        <p:spPr>
          <a:xfrm>
            <a:off x="581531" y="5780685"/>
            <a:ext cx="25415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/>
              <a:t>LoRA-k8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6FA7764-C5B5-3C7E-9A33-089C51373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0926" y="1422819"/>
            <a:ext cx="2006181" cy="20061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488FB4-A264-C07F-0930-72D91A3995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0926" y="3730000"/>
            <a:ext cx="2006181" cy="200618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21C2D61-DEA6-D246-88B8-F913487B7D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7054" y="1422819"/>
            <a:ext cx="2006181" cy="20061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012DE21-8E3D-132A-B245-67B2CA6D61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1587" y="3805640"/>
            <a:ext cx="1955080" cy="1955080"/>
          </a:xfrm>
          <a:prstGeom prst="rect">
            <a:avLst/>
          </a:prstGeom>
        </p:spPr>
      </p:pic>
      <p:sp>
        <p:nvSpPr>
          <p:cNvPr id="30" name="Text 3">
            <a:extLst>
              <a:ext uri="{FF2B5EF4-FFF2-40B4-BE49-F238E27FC236}">
                <a16:creationId xmlns:a16="http://schemas.microsoft.com/office/drawing/2014/main" id="{EBD7757B-2569-DCE5-CE3D-0373D76622EA}"/>
              </a:ext>
            </a:extLst>
          </p:cNvPr>
          <p:cNvSpPr/>
          <p:nvPr/>
        </p:nvSpPr>
        <p:spPr>
          <a:xfrm>
            <a:off x="8255718" y="1177149"/>
            <a:ext cx="2105628" cy="239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/>
              <a:t>DDIM-1</a:t>
            </a: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D4D4B0E7-CF75-CC45-E027-8EE2D5B4CED9}"/>
              </a:ext>
            </a:extLst>
          </p:cNvPr>
          <p:cNvSpPr/>
          <p:nvPr/>
        </p:nvSpPr>
        <p:spPr>
          <a:xfrm>
            <a:off x="4618288" y="1158955"/>
            <a:ext cx="2105628" cy="239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/>
              <a:t>DDIM-4</a:t>
            </a: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AF90A69D-88B1-3492-AAE9-E41B5518344F}"/>
              </a:ext>
            </a:extLst>
          </p:cNvPr>
          <p:cNvSpPr/>
          <p:nvPr/>
        </p:nvSpPr>
        <p:spPr>
          <a:xfrm>
            <a:off x="7878971" y="5766910"/>
            <a:ext cx="25415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/>
              <a:t>LoRA-k1 </a:t>
            </a: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2885E28B-DDC9-3C82-79E3-FFA54B22B00E}"/>
              </a:ext>
            </a:extLst>
          </p:cNvPr>
          <p:cNvSpPr/>
          <p:nvPr/>
        </p:nvSpPr>
        <p:spPr>
          <a:xfrm>
            <a:off x="4353527" y="5800650"/>
            <a:ext cx="25415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/>
              <a:t>LoRA-k4 </a:t>
            </a:r>
          </a:p>
        </p:txBody>
      </p:sp>
    </p:spTree>
    <p:extLst>
      <p:ext uri="{BB962C8B-B14F-4D97-AF65-F5344CB8AC3E}">
        <p14:creationId xmlns:p14="http://schemas.microsoft.com/office/powerpoint/2010/main" val="417260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86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— Ablations 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85800" y="1417320"/>
            <a:ext cx="3566160" cy="4434840"/>
          </a:xfrm>
          <a:prstGeom prst="roundRect">
            <a:avLst>
              <a:gd name="adj" fmla="val 2308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941832" y="16184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41832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vs naive ε-loss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41832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Naive-eps LoRA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0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46.16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41832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LoRA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0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38.24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200400" y="2286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↓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41832" y="443484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 comes from the trajectory-matching objective, not the extra parameters.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07992" y="1417320"/>
            <a:ext cx="3566160" cy="4434840"/>
          </a:xfrm>
          <a:prstGeom prst="roundRect">
            <a:avLst>
              <a:gd name="adj" fmla="val 2308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764024" y="16184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rank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764024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2 / 4 / 8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764024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022592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38.32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764024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022592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38.48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764024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8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022592" y="3429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37.67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022592" y="2286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↓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64024" y="443484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barely matters: even rank 2 captures the benefit → truly parameter-efficient.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330184" y="1417320"/>
            <a:ext cx="3566160" cy="4434840"/>
          </a:xfrm>
          <a:prstGeom prst="roundRect">
            <a:avLst>
              <a:gd name="adj" fmla="val 2308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8586216" y="16184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source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586216" y="20116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vs mixed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586216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only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844784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38.48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586216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states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844784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38.24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0844784" y="2286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↓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586216" y="443484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tied: a negative result. We do not rely on trajectory-state mixing. K = 8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 fails (FID 326): a single denoising step is not enough for this adapter setup. K = 8 and K = 4 are the meaningful models.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86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1417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presented a parameter-efficient few-step distillation of a DDPM using LoRA adapters and a trajectory-matching objective, evaluated on CIFAR-10.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42316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EAF5F6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1051560" y="2679192"/>
            <a:ext cx="530352" cy="530352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8163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25877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10–19× faster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783080" y="29718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the DDIM-100 baseline, at matched quality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242316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EAF5F6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6446520" y="2679192"/>
            <a:ext cx="530352" cy="530352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81635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78040" y="25877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few-step FID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178040" y="29718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+8.9 for K=8 and +34.9 for K=4 over plain DDIM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374904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EAF5F6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1051560" y="4005072"/>
            <a:ext cx="530352" cy="530352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414223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83080" y="391363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restored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783080" y="42976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partially recovered (+0.057 for K=8)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217920" y="374904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EAF5F6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6446520" y="4005072"/>
            <a:ext cx="530352" cy="530352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414223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78040" y="391363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inference overhead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7178040" y="42976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merge back; only ~0.1% of weights trained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822960" y="51663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1"/>
          <p:cNvSpPr/>
          <p:nvPr/>
        </p:nvSpPr>
        <p:spPr>
          <a:xfrm>
            <a:off x="1051560" y="52578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 </a:t>
            </a:r>
            <a:r>
              <a:rPr lang="en-US" sz="1350" dirty="0">
                <a:solidFill>
                  <a:srgbClr val="172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single-step (K=1) sampling is not recovered on this baseline; absolute quality is hardware-limited (FID≈29). Confirming the smaller K=8 gain would need multiple seeds.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FA3B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486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817352" y="6400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155448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005840" y="15544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1554480"/>
            <a:ext cx="9464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Ho, A. Jain, P. Abbeel.  </a:t>
            </a: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Diffusion Probabilistic Models.  </a:t>
            </a: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2020.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2450592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005840" y="245059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691640" y="2450592"/>
            <a:ext cx="9464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Song, C. Meng, S. Ermon.  </a:t>
            </a: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Diffusion Implicit Models.  </a:t>
            </a: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2021.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2960" y="3346704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005840" y="334670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691640" y="3346704"/>
            <a:ext cx="9464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Salimans, J. Ho.  </a:t>
            </a: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Distillation for Fast Sampling of Diffusion Models.  </a:t>
            </a: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2022.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22960" y="4242816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005840" y="424281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691640" y="4242816"/>
            <a:ext cx="9464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Hu, Y. Shen, P. Wallis, et al.  </a:t>
            </a: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Low-Rank Adaptation of Large Language Models.  </a:t>
            </a: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22960" y="5138928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2F6F7"/>
          </a:solidFill>
          <a:ln/>
          <a:effectLst>
            <a:outerShdw blurRad="88900" dist="38100" dir="5400000" algn="bl" rotWithShape="0">
              <a:srgbClr val="9BB3BB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1005840" y="513892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691640" y="5138928"/>
            <a:ext cx="9464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Kynkäänniemi, T. Karras, S. Laine, J. Lehtinen, T. Aila.  </a:t>
            </a: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Precision and Recall Metric for Assessing Generative Models.  </a:t>
            </a: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2019.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1520</Words>
  <Application>Microsoft Office PowerPoint</Application>
  <PresentationFormat>Widescreen</PresentationFormat>
  <Paragraphs>218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Parameter-Efficient Few-Step Distillation of Diffusion Models via LoRA</dc:title>
  <dc:subject>PptxGenJS Presentation</dc:subject>
  <dc:creator>Giuseppini, Conti, Falconi</dc:creator>
  <cp:lastModifiedBy>Claudia Giuseppini</cp:lastModifiedBy>
  <cp:revision>2</cp:revision>
  <dcterms:created xsi:type="dcterms:W3CDTF">2026-07-07T16:47:55Z</dcterms:created>
  <dcterms:modified xsi:type="dcterms:W3CDTF">2026-07-07T18:57:53Z</dcterms:modified>
</cp:coreProperties>
</file>